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2918400" cy="5029200"/>
          </a:xfrm>
          <a:prstGeom prst="roundRect">
            <a:avLst>
              <a:gd name="adj" fmla="val 3000"/>
            </a:avLst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30906719" cy="2286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8200" b="1" i="0">
                <a:solidFill>
                  <a:srgbClr val="FFFFFF"/>
                </a:solidFill>
                <a:latin typeface="Helvetica Neue"/>
              </a:rPr>
              <a:t>IGVF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30906719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3000" b="0" i="0">
                <a:solidFill>
                  <a:srgbClr val="CFE3F5"/>
                </a:solidFill>
                <a:latin typeface="Helvetica Neue"/>
              </a:rPr>
              <a:t>An auditable, locally deployable research agent for analysis across federated functional-genomics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29000"/>
            <a:ext cx="30906719" cy="12801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AFCBE6"/>
                </a:solidFill>
                <a:latin typeface="Helvetica Neue"/>
              </a:rPr>
              <a:t>Hufeng Zhou¹, Yichun He², Daofeng Li³, Junhao Zhu¹, Xihao Li⁴, Xingxin Pan⁵, Alvin Zhang¹, Vineet Verma¹, Ting Wang³, Zhiping Weng⁶, Tianxi Cai⁷, Jesse Engreitz⁸, William H. Majoros⁹, S. Stephen Yi⁵, Xihong Lin¹²</a:t>
            </a:r>
          </a:p>
          <a:p>
            <a:pPr algn="ctr">
              <a:lnSpc>
                <a:spcPct val="106000"/>
              </a:lnSpc>
              <a:spcBef>
                <a:spcPts val="600"/>
              </a:spcBef>
            </a:pPr>
            <a:r>
              <a:rPr sz="1300" b="0" i="0">
                <a:solidFill>
                  <a:srgbClr val="8FB3D6"/>
                </a:solidFill>
                <a:latin typeface="Helvetica Neue"/>
              </a:rPr>
              <a:t>¹Harvard T.H. Chan School of Public Health  ·  ²Broad Institute  ·  ³Washington University  ·  ⁴UNC Chapel Hill  ·  ⁵UT Austin / Baylor  ·  ⁶UMass Chan  ·  ⁷Harvard Medical School  ·  ⁸Stanford  ·  ⁹Duke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5577840"/>
            <a:ext cx="5925312" cy="1920240"/>
          </a:xfrm>
          <a:prstGeom prst="roundRect">
            <a:avLst>
              <a:gd name="adj" fmla="val 3000"/>
            </a:avLst>
          </a:prstGeom>
          <a:solidFill>
            <a:srgbClr val="EFF4F9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724144"/>
            <a:ext cx="5925312" cy="998524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4600" b="1" i="0">
                <a:solidFill>
                  <a:srgbClr val="0F848C"/>
                </a:solidFill>
                <a:latin typeface="Helvetica Neue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729983"/>
            <a:ext cx="5925312" cy="69128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0" i="0">
                <a:solidFill>
                  <a:srgbClr val="555F6B"/>
                </a:solidFill>
                <a:latin typeface="Helvetica Neue"/>
              </a:rPr>
              <a:t>analysis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51192" y="5577840"/>
            <a:ext cx="5925312" cy="1920240"/>
          </a:xfrm>
          <a:prstGeom prst="roundRect">
            <a:avLst>
              <a:gd name="adj" fmla="val 3000"/>
            </a:avLst>
          </a:prstGeom>
          <a:solidFill>
            <a:srgbClr val="EFF4F9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5724144"/>
            <a:ext cx="5925312" cy="998524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4600" b="1" i="0">
                <a:solidFill>
                  <a:srgbClr val="0F848C"/>
                </a:solidFill>
                <a:latin typeface="Helvetica Neue"/>
              </a:rPr>
              <a:t>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6729983"/>
            <a:ext cx="5925312" cy="69128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0" i="0">
                <a:solidFill>
                  <a:srgbClr val="555F6B"/>
                </a:solidFill>
                <a:latin typeface="Helvetica Neue"/>
              </a:rPr>
              <a:t>typed LLM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96543" y="5577840"/>
            <a:ext cx="5925312" cy="1920240"/>
          </a:xfrm>
          <a:prstGeom prst="roundRect">
            <a:avLst>
              <a:gd name="adj" fmla="val 3000"/>
            </a:avLst>
          </a:prstGeom>
          <a:solidFill>
            <a:srgbClr val="EFF4F9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96543" y="5724144"/>
            <a:ext cx="5925312" cy="998524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4600" b="1" i="0">
                <a:solidFill>
                  <a:srgbClr val="0F848C"/>
                </a:solidFill>
                <a:latin typeface="Helvetica Neue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96543" y="6729983"/>
            <a:ext cx="5925312" cy="69128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0" i="0">
                <a:solidFill>
                  <a:srgbClr val="555F6B"/>
                </a:solidFill>
                <a:latin typeface="Helvetica Neue"/>
              </a:rPr>
              <a:t>benchmarked studies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741896" y="5577840"/>
            <a:ext cx="5925312" cy="1920240"/>
          </a:xfrm>
          <a:prstGeom prst="roundRect">
            <a:avLst>
              <a:gd name="adj" fmla="val 3000"/>
            </a:avLst>
          </a:prstGeom>
          <a:solidFill>
            <a:srgbClr val="EFF4F9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741896" y="5724144"/>
            <a:ext cx="5925312" cy="998524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4600" b="1" i="0">
                <a:solidFill>
                  <a:srgbClr val="0F848C"/>
                </a:solidFill>
                <a:latin typeface="Helvetica Neue"/>
              </a:rPr>
              <a:t>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41896" y="6729983"/>
            <a:ext cx="5925312" cy="69128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0" i="0">
                <a:solidFill>
                  <a:srgbClr val="555F6B"/>
                </a:solidFill>
                <a:latin typeface="Helvetica Neue"/>
              </a:rPr>
              <a:t>machine-checked criteria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87248" y="5577840"/>
            <a:ext cx="5925312" cy="1920240"/>
          </a:xfrm>
          <a:prstGeom prst="roundRect">
            <a:avLst>
              <a:gd name="adj" fmla="val 3000"/>
            </a:avLst>
          </a:prstGeom>
          <a:solidFill>
            <a:srgbClr val="EFF4F9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87248" y="5724144"/>
            <a:ext cx="5925312" cy="998524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4600" b="1" i="0">
                <a:solidFill>
                  <a:srgbClr val="0F848C"/>
                </a:solidFill>
                <a:latin typeface="Helvetica Neue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87248" y="6729983"/>
            <a:ext cx="5925312" cy="69128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0" i="0">
                <a:solidFill>
                  <a:srgbClr val="555F6B"/>
                </a:solidFill>
                <a:latin typeface="Helvetica Neue"/>
              </a:rPr>
              <a:t>federated archives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8092440"/>
            <a:ext cx="152019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B5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8092440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8147304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8805672"/>
            <a:ext cx="14762988" cy="379475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Variant-to-function research now spans IGVF, ENCODE, GEO, CELLxGENE, HCA and Zenodo — archives that differ in schema, identifiers, metadata standards and access mechanisms.</a:t>
            </a:r>
          </a:p>
          <a:p>
            <a:pPr algn="l">
              <a:lnSpc>
                <a:spcPct val="106000"/>
              </a:lnSpc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The rate-limiting step has shifted from the availability of data to the labour of integrating it: even a focused question — which enhancers regulate PCSK9 in hepatocytes — needs custom scripts to search, harmonise, retrieve and track provenance across several repositories.</a:t>
            </a:r>
          </a:p>
          <a:p>
            <a:pPr algn="l">
              <a:lnSpc>
                <a:spcPct val="106000"/>
              </a:lnSpc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LLM agents are a credible response, but most are bound to one vendor, route credentials through opaque cloud services, or expose a single archive. None of those is usable for controlled-access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13066776"/>
            <a:ext cx="15201900" cy="6053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13066776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0F8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13121640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" y="13780007"/>
            <a:ext cx="14762988" cy="518464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1A1A1A"/>
                </a:solidFill>
                <a:latin typeface="Helvetica Neue"/>
              </a:rPr>
              <a:t>1.  Explicit commands, not generated code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Every agent action is a typed, recorded command drawn from a fixed repertoire — never free-form code. A session therefore reduces without loss to a re-runnable script.</a:t>
            </a:r>
          </a:p>
          <a:p>
            <a:pPr algn="l">
              <a:lnSpc>
                <a:spcPct val="106000"/>
              </a:lnSpc>
              <a:spcBef>
                <a:spcPts val="900"/>
              </a:spcBef>
            </a:pPr>
            <a:r>
              <a:rPr sz="2000" b="1" i="0">
                <a:solidFill>
                  <a:srgbClr val="1A1A1A"/>
                </a:solidFill>
                <a:latin typeface="Helvetica Neue"/>
              </a:rPr>
              <a:t>2.  Local execution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Tools run as subprocesses in the investigator's environment. Endpoints and credentials resolve at runtime, so the released code is the deployed code.</a:t>
            </a:r>
          </a:p>
          <a:p>
            <a:pPr algn="l">
              <a:lnSpc>
                <a:spcPct val="106000"/>
              </a:lnSpc>
              <a:spcBef>
                <a:spcPts val="900"/>
              </a:spcBef>
            </a:pPr>
            <a:r>
              <a:rPr sz="2000" b="1" i="0">
                <a:solidFill>
                  <a:srgbClr val="1A1A1A"/>
                </a:solidFill>
                <a:latin typeface="Helvetica Neue"/>
              </a:rPr>
              <a:t>3.  Two-way drivability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Each capability is simultaneously a shell command and an LLM-callable tool with identical semantics, so exploration and the archived pipeline execute the same code.</a:t>
            </a:r>
          </a:p>
          <a:p>
            <a:pPr algn="l">
              <a:lnSpc>
                <a:spcPct val="106000"/>
              </a:lnSpc>
              <a:spcBef>
                <a:spcPts val="900"/>
              </a:spcBef>
            </a:pPr>
            <a:r>
              <a:rPr sz="2000" b="1" i="0">
                <a:solidFill>
                  <a:srgbClr val="1A1A1A"/>
                </a:solidFill>
                <a:latin typeface="Helvetica Neue"/>
              </a:rPr>
              <a:t>4.  Backend agnosticism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One routing layer drives hosted APIs, self-hosted open-weight models, or an external coding CLI without touching analysis code.</a:t>
            </a:r>
          </a:p>
        </p:txBody>
      </p:sp>
      <p:pic>
        <p:nvPicPr>
          <p:cNvPr id="29" name="Picture 28" descr="IGVF_agent_archet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431000"/>
            <a:ext cx="15201900" cy="76809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5840" y="27203400"/>
            <a:ext cx="1520190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1">
                <a:solidFill>
                  <a:srgbClr val="555F6B"/>
                </a:solidFill>
                <a:latin typeface="Helvetica Neue"/>
              </a:rPr>
              <a:t>Five-layer architecture: entry points → agent runtime and tool dispatch → skills by domain → local persistence → upstream archives.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27898344"/>
            <a:ext cx="15201900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5840" y="27898344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C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8" y="27953208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Growing knowledge 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" y="28611576"/>
            <a:ext cx="14762988" cy="2404872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Every retrieval feeds a local graph. Result tables are parsed and their rows become entity-to-entity edges — variant → gene, element → gene, gene → pathway, protein ↔ protein — carrying score, source and method.</a:t>
            </a:r>
          </a:p>
          <a:p>
            <a:pPr algn="l">
              <a:lnSpc>
                <a:spcPct val="106000"/>
              </a:lnSpc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The graph therefore accumulates across sessions rather than resetting: repeat questions are answered locally, and evidence gathered for one analysis is available to the next.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31482792"/>
            <a:ext cx="15201900" cy="5705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B5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" y="31482792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31537656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Worked 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5296" y="32196024"/>
            <a:ext cx="14762988" cy="483717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0" i="1">
                <a:solidFill>
                  <a:srgbClr val="1B5EA8"/>
                </a:solidFill>
                <a:latin typeface="Helvetica Neue"/>
              </a:rPr>
              <a:t>“Functionally annotate these variants and add them to the knowledge graph”</a:t>
            </a:r>
          </a:p>
          <a:p>
            <a:pPr algn="l">
              <a:lnSpc>
                <a:spcPct val="106000"/>
              </a:lnSpc>
              <a:spcBef>
                <a:spcPts val="800"/>
              </a:spcBef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25 APOB stop-gain variants, pasted in any notation (chr-pos-ref-alt, rsID, SPDI, HGVS, VCF — mixed freely).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→  annotated against FAVOR and the IGVF Catalog, with live ClinVar taking precedence over FAVOR's snapshot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→  25 variant nodes, 7 gene edges, 24 disease edges, 6 regulatory-element edges written to the local graph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→  an APOB depth-2 traversal returns 19 nodes and 47 edges spanning variant, gene, disease and regulatory element</a:t>
            </a:r>
          </a:p>
          <a:p>
            <a:pPr algn="l">
              <a:lnSpc>
                <a:spcPct val="106000"/>
              </a:lnSpc>
              <a:spcBef>
                <a:spcPts val="800"/>
              </a:spcBef>
            </a:pPr>
            <a:r>
              <a:rPr sz="1700" b="0" i="1">
                <a:solidFill>
                  <a:srgbClr val="C26B1F"/>
                </a:solidFill>
                <a:latin typeface="Helvetica Neue"/>
              </a:rPr>
              <a:t>Cross-source verification matters: for one variant FAVOR's snapshot reports Benign / hypercholesterolaemia while current ClinVar reports Pathogenic / hypobetalipoproteinaemia — opposite significance and opposite direction of effect.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710660" y="8092440"/>
            <a:ext cx="15201900" cy="53583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6710660" y="8092440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0F8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1828" y="8147304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Capabilities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30116" y="8805672"/>
            <a:ext cx="14762988" cy="4489704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Discovery and retrieval  ·  variant interpretation  ·  regulatory genomics  ·  single-cell and multiome  ·  bulk and proteomic analysis  ·  cross-resource integration</a:t>
            </a:r>
          </a:p>
          <a:p>
            <a:pPr algn="l">
              <a:lnSpc>
                <a:spcPct val="106000"/>
              </a:lnSpc>
              <a:spcBef>
                <a:spcPts val="1000"/>
              </a:spcBef>
            </a:pPr>
            <a:r>
              <a:rPr sz="2000" b="1" i="0">
                <a:solidFill>
                  <a:srgbClr val="1A1A1A"/>
                </a:solidFill>
                <a:latin typeface="Helvetica Neue"/>
              </a:rPr>
              <a:t>Assay-aware reimplementations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Clean-room implementations of the canonical published pipeline for each major assay — MPRA, STARR-seq, CRISPRi Flow-FISH, SHARE-seq, VAMP-seq deep mutational scanning, MULTI-seq — written to one provenance and plotting framework under a single permissive licence.</a:t>
            </a:r>
          </a:p>
          <a:p>
            <a:pPr algn="l">
              <a:lnSpc>
                <a:spcPct val="106000"/>
              </a:lnSpc>
              <a:spcBef>
                <a:spcPts val="900"/>
              </a:spcBef>
            </a:pPr>
            <a:r>
              <a:rPr sz="2000" b="1" i="0">
                <a:solidFill>
                  <a:srgbClr val="1A1A1A"/>
                </a:solidFill>
                <a:latin typeface="Helvetica Neue"/>
              </a:rPr>
              <a:t>Network integration</a:t>
            </a:r>
          </a:p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CARNIVAL signed MILP and prize-collecting Steiner tree, reimplemented from the published formulations, composing the outputs of several skills into one mechanistic inference.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710660" y="13761720"/>
            <a:ext cx="15201900" cy="5705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6710660" y="13761720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C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911828" y="13816584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Evaluated in three tiers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30116" y="14474952"/>
            <a:ext cx="14762988" cy="483717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An agent fails in three independent ways, and one aggregate score conceals which occurred.</a:t>
            </a:r>
          </a:p>
          <a:p>
            <a:pPr algn="l">
              <a:lnSpc>
                <a:spcPct val="106000"/>
              </a:lnSpc>
              <a:spcBef>
                <a:spcPts val="800"/>
              </a:spcBef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Tier 1 — skill correctness.  21 studies, 77 machine-checked criteria. Fixed command sequences with no model in the loop: this establishes that the implementations are right, not that the agent would select them.</a:t>
            </a:r>
          </a:p>
          <a:p>
            <a:pPr algn="l">
              <a:lnSpc>
                <a:spcPct val="106000"/>
              </a:lnSpc>
              <a:spcBef>
                <a:spcPts val="600"/>
              </a:spcBef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Tier 2 — planning. Tool selection, argument binding and ordering scored against a gold plan, with deliberate tool failures to test recovery.</a:t>
            </a:r>
          </a:p>
          <a:p>
            <a:pPr algn="l">
              <a:lnSpc>
                <a:spcPct val="106000"/>
              </a:lnSpc>
              <a:spcBef>
                <a:spcPts val="600"/>
              </a:spcBef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Tier 3 — conclusion validity. An independent verifier judges each claim supported, unsupported or contradicted by the artefacts — without seeing the reasoning that produced it.</a:t>
            </a:r>
          </a:p>
          <a:p>
            <a:pPr algn="l">
              <a:lnSpc>
                <a:spcPct val="106000"/>
              </a:lnSpc>
              <a:spcBef>
                <a:spcPts val="800"/>
              </a:spcBef>
            </a:pPr>
            <a:r>
              <a:rPr sz="1700" b="0" i="1">
                <a:solidFill>
                  <a:srgbClr val="C26B1F"/>
                </a:solidFill>
                <a:latin typeface="Helvetica Neue"/>
              </a:rPr>
              <a:t>Reported honestly: of 21 benchmarks, 7 assert a derived scientific quantity; the rest establish retrieval or artefact generation. Calling them all “reproductions” would overstate the weakest.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710660" y="19778472"/>
            <a:ext cx="15201900" cy="39684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B5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6710660" y="19778472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11828" y="19833335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Result: the multiome corpus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30116" y="20491704"/>
            <a:ext cx="14762988" cy="3099815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A cross-archive survey resolved 401 datasets / 3,837 files / 14.19 TB across six archives in ~20 minutes on a workstation.</a:t>
            </a:r>
          </a:p>
          <a:p>
            <a:pPr algn="l">
              <a:lnSpc>
                <a:spcPct val="106000"/>
              </a:lnSpc>
              <a:spcBef>
                <a:spcPts val="800"/>
              </a:spcBef>
            </a:pPr>
            <a:r>
              <a:rPr sz="1900" b="0" i="0">
                <a:solidFill>
                  <a:srgbClr val="1A1A1A"/>
                </a:solidFill>
                <a:latin typeface="Helvetica Neue"/>
              </a:rPr>
              <a:t>Of that, ~12.5 TB is raw reads and alignments recoverable from primary data. The analysis-ready fraction — count matrices, fragment files, cell annotations — is ≈1.04 TB.</a:t>
            </a:r>
          </a:p>
          <a:p>
            <a:pPr algn="l">
              <a:lnSpc>
                <a:spcPct val="106000"/>
              </a:lnSpc>
              <a:spcBef>
                <a:spcPts val="800"/>
              </a:spcBef>
            </a:pPr>
            <a:r>
              <a:rPr sz="1900" b="1" i="0">
                <a:solidFill>
                  <a:srgbClr val="1A1A1A"/>
                </a:solidFill>
                <a:latin typeface="Helvetica Neue"/>
              </a:rPr>
              <a:t>That the union of publicly available multiome data collapses to a roughly one-terabyte analysis-ready corpus brings assembly of a single-cell foundation-model training set within reach of an individual laboratory.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710660" y="24057864"/>
            <a:ext cx="1520190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6710660" y="24057864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0F8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911828" y="24112727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Reproducibility, stated precisely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930116" y="24771096"/>
            <a:ext cx="14762988" cy="3447287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Auditability is a property of the record: every action is a typed command, recorded with arguments, artefacts and a consistency fingerprint. This holds in general.</a:t>
            </a:r>
          </a:p>
          <a:p>
            <a:pPr algn="l">
              <a:lnSpc>
                <a:spcPct val="106000"/>
              </a:lnSpc>
              <a:spcBef>
                <a:spcPts val="700"/>
              </a:spcBef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Repeatability is a property of execution: pinned command sequences reproduce artefacts exactly; free-form planning does not, and neither survives an upstream re-release.</a:t>
            </a:r>
          </a:p>
          <a:p>
            <a:pPr algn="l">
              <a:lnSpc>
                <a:spcPct val="106000"/>
              </a:lnSpc>
              <a:spcBef>
                <a:spcPts val="700"/>
              </a:spcBef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Validity is a property of the conclusion, and is the open problem — agreement metrics measure whether two runs concur, which two identically mistaken runs also satisfy.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6710660" y="28684727"/>
            <a:ext cx="15201900" cy="50109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F8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6710660" y="28684727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0F8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11828" y="28739591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Extensible by its users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30116" y="29397960"/>
            <a:ext cx="14762988" cy="4142231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New capabilities do not require touching core code. A tool manifest or a Python skill dropped into an extension directory is absorbed into the registry with no restart, appearing simultaneously as a shell command and an LLM-callable tool.</a:t>
            </a:r>
          </a:p>
          <a:p>
            <a:pPr algn="l">
              <a:lnSpc>
                <a:spcPct val="106000"/>
              </a:lnSpc>
              <a:spcBef>
                <a:spcPts val="800"/>
              </a:spcBef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The agent can author these itself: asked for a capability that does not exist, it writes the implementation and registers the matching typed interface in one step, then calls it.</a:t>
            </a:r>
          </a:p>
          <a:p>
            <a:pPr algn="l">
              <a:lnSpc>
                <a:spcPct val="106000"/>
              </a:lnSpc>
              <a:spcBef>
                <a:spcPts val="800"/>
              </a:spcBef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Each skill is described by a machine-readable skill card — identity, version, typed interfaces, upstream archives, and a validation status derived from the benchmark suite rather than asserted — so skills can be version-pinned and consumed by systems other than this agent.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710660" y="34006536"/>
            <a:ext cx="15201900" cy="39684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B5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6710660" y="34006536"/>
            <a:ext cx="15201900" cy="566928"/>
          </a:xfrm>
          <a:prstGeom prst="roundRect">
            <a:avLst>
              <a:gd name="adj" fmla="val 3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911828" y="34061400"/>
            <a:ext cx="14799563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Deployment and privacy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930116" y="34719768"/>
            <a:ext cx="14762988" cy="3099815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Three interchangeable interfaces — command line, browser UI, conversational agent — over one shared contract.</a:t>
            </a:r>
          </a:p>
          <a:p>
            <a:pPr algn="l">
              <a:lnSpc>
                <a:spcPct val="106000"/>
              </a:lnSpc>
              <a:spcBef>
                <a:spcPts val="700"/>
              </a:spcBef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Backends span hosted APIs, self-hosted open-weight models (Ollama, vLLM, TGI) and external coding CLIs. Analysis code is identical across all of them.</a:t>
            </a:r>
          </a:p>
          <a:p>
            <a:pPr algn="l">
              <a:lnSpc>
                <a:spcPct val="106000"/>
              </a:lnSpc>
              <a:spcBef>
                <a:spcPts val="700"/>
              </a:spcBef>
            </a:pPr>
            <a:r>
              <a:rPr sz="1700" b="0" i="1">
                <a:solidFill>
                  <a:srgbClr val="555F6B"/>
                </a:solidFill>
                <a:latin typeface="Helvetica Neue"/>
              </a:rPr>
              <a:t>Stated precisely: tool execution is local, and endpoints and credentials resolve at runtime. Inference is local only when a locally served model is used, and federated data access contacts public archives under every backend — so a local model keeps the prompt local rather than eliminating egress.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0" y="41513760"/>
            <a:ext cx="32918400" cy="2377440"/>
          </a:xfrm>
          <a:prstGeom prst="roundRect">
            <a:avLst>
              <a:gd name="adj" fmla="val 3000"/>
            </a:avLst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41925240"/>
            <a:ext cx="30906719" cy="1554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6000"/>
              </a:lnSpc>
            </a:pPr>
            <a:r>
              <a:rPr sz="2600" b="1" i="0">
                <a:solidFill>
                  <a:srgbClr val="FFFFFF"/>
                </a:solidFill>
                <a:latin typeface="Helvetica Neue"/>
              </a:rPr>
              <a:t>github.com/zhouhufeng/IGVFagent      ·      igvfagent.genohub.org      ·      Apache-2.0</a:t>
            </a:r>
          </a:p>
          <a:p>
            <a:pPr algn="ctr">
              <a:lnSpc>
                <a:spcPct val="106000"/>
              </a:lnSpc>
              <a:spcBef>
                <a:spcPts val="800"/>
              </a:spcBef>
            </a:pPr>
            <a:r>
              <a:rPr sz="1700" b="0" i="0">
                <a:solidFill>
                  <a:srgbClr val="AFCBE6"/>
                </a:solidFill>
                <a:latin typeface="Helvetica Neue"/>
              </a:rPr>
              <a:t>IGVFagent v0.2.9  ·  open source, installable with pip  ·  runs on hosted APIs or entirely on local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